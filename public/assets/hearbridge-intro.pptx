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f87badae9f4a7b" /><Relationship Type="http://schemas.openxmlformats.org/officeDocument/2006/relationships/extended-properties" Target="/docProps/app.xml" Id="R2ce6bf2804d64aab" /><Relationship Type="http://schemas.openxmlformats.org/officeDocument/2006/relationships/officeDocument" Target="/ppt/presentation.xml" Id="Rbf8bc82a2fe1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10c37fc1f24358"/>
  </p:sldMasterIdLst>
  <p:notesMasterIdLst>
    <p:notesMasterId xmlns:r="http://schemas.openxmlformats.org/officeDocument/2006/relationships" r:id="Rc27d1f6fc78544d8"/>
  </p:notesMasterIdLst>
  <p:sldIdLst>
    <p:sldId xmlns:r="http://schemas.openxmlformats.org/officeDocument/2006/relationships" id="256" r:id="R87b8429606224ead"/>
    <p:sldId xmlns:r="http://schemas.openxmlformats.org/officeDocument/2006/relationships" id="257" r:id="R08a8d20dfd35428a"/>
    <p:sldId xmlns:r="http://schemas.openxmlformats.org/officeDocument/2006/relationships" id="258" r:id="R4b55bb78fa124b71"/>
    <p:sldId xmlns:r="http://schemas.openxmlformats.org/officeDocument/2006/relationships" id="259" r:id="Reafc2dc510034e45"/>
    <p:sldId xmlns:r="http://schemas.openxmlformats.org/officeDocument/2006/relationships" id="260" r:id="R80863bc7dfa74701"/>
    <p:sldId xmlns:r="http://schemas.openxmlformats.org/officeDocument/2006/relationships" id="261" r:id="Rfd18a502cc0f483d"/>
    <p:sldId xmlns:r="http://schemas.openxmlformats.org/officeDocument/2006/relationships" id="262" r:id="R1e3463a5368646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ab5c5341c47a2" /><Relationship Type="http://schemas.openxmlformats.org/officeDocument/2006/relationships/slideMaster" Target="/ppt/slideMasters/slideMaster1.xml" Id="R9a10c37fc1f24358" /><Relationship Type="http://schemas.openxmlformats.org/officeDocument/2006/relationships/notesMaster" Target="/ppt/notesMasters/notesMaster1.xml" Id="Rc27d1f6fc78544d8" /><Relationship Type="http://schemas.openxmlformats.org/officeDocument/2006/relationships/presProps" Target="/ppt/presProps.xml" Id="R4a214e67baad4e47" /><Relationship Type="http://schemas.openxmlformats.org/officeDocument/2006/relationships/tableStyles" Target="/ppt/tableStyles.xml" Id="R2ed7dee5a524459c" /><Relationship Type="http://schemas.openxmlformats.org/officeDocument/2006/relationships/slide" Target="/ppt/slides/slide1.xml" Id="R87b8429606224ead" /><Relationship Type="http://schemas.openxmlformats.org/officeDocument/2006/relationships/slide" Target="/ppt/slides/slide2.xml" Id="R08a8d20dfd35428a" /><Relationship Type="http://schemas.openxmlformats.org/officeDocument/2006/relationships/slide" Target="/ppt/slides/slide3.xml" Id="R4b55bb78fa124b71" /><Relationship Type="http://schemas.openxmlformats.org/officeDocument/2006/relationships/slide" Target="/ppt/slides/slide4.xml" Id="Reafc2dc510034e45" /><Relationship Type="http://schemas.openxmlformats.org/officeDocument/2006/relationships/slide" Target="/ppt/slides/slide5.xml" Id="R80863bc7dfa74701" /><Relationship Type="http://schemas.openxmlformats.org/officeDocument/2006/relationships/slide" Target="/ppt/slides/slide6.xml" Id="Rfd18a502cc0f483d" /><Relationship Type="http://schemas.openxmlformats.org/officeDocument/2006/relationships/slide" Target="/ppt/slides/slide7.xml" Id="R1e3463a5368646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15ca818704e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dd0acdcb674f38" /><Relationship Type="http://schemas.openxmlformats.org/officeDocument/2006/relationships/notesMaster" Target="/ppt/notesMasters/notesMaster1.xml" Id="R4edbd0ce008149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a431b880c54784" /><Relationship Type="http://schemas.openxmlformats.org/officeDocument/2006/relationships/notesMaster" Target="/ppt/notesMasters/notesMaster1.xml" Id="R6940ccc3c2294e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e8f3db5f964e1b" /><Relationship Type="http://schemas.openxmlformats.org/officeDocument/2006/relationships/notesMaster" Target="/ppt/notesMasters/notesMaster1.xml" Id="R0c4d8ffe9762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26bf76f5474f5a" /><Relationship Type="http://schemas.openxmlformats.org/officeDocument/2006/relationships/notesMaster" Target="/ppt/notesMasters/notesMaster1.xml" Id="R450ac57387b74f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50869c6f434c7d" /><Relationship Type="http://schemas.openxmlformats.org/officeDocument/2006/relationships/notesMaster" Target="/ppt/notesMasters/notesMaster1.xml" Id="Rc22f5f9ec88b43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f7db2769624fdf" /><Relationship Type="http://schemas.openxmlformats.org/officeDocument/2006/relationships/notesMaster" Target="/ppt/notesMasters/notesMaster1.xml" Id="Re92f10f5dd8747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80e678c5eb4c83" /><Relationship Type="http://schemas.openxmlformats.org/officeDocument/2006/relationships/notesMaster" Target="/ppt/notesMasters/notesMaster1.xml" Id="R9496afa4965b41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80a3c3062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ffd9ddcf04af9" /><Relationship Type="http://schemas.openxmlformats.org/officeDocument/2006/relationships/slideLayout" Target="/ppt/slideLayouts/slideLayout1.xml" Id="Re65b84a9b5854b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5b84a9b5854b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ff638e3ef4495" /><Relationship Type="http://schemas.openxmlformats.org/officeDocument/2006/relationships/notesSlide" Target="/ppt/notesSlides/notesSlide1.xml" Id="R903716925e9948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66fdec7b946d5" /><Relationship Type="http://schemas.openxmlformats.org/officeDocument/2006/relationships/notesSlide" Target="/ppt/notesSlides/notesSlide2.xml" Id="Re49f7423d1fe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3c36d21994216" /><Relationship Type="http://schemas.openxmlformats.org/officeDocument/2006/relationships/notesSlide" Target="/ppt/notesSlides/notesSlide3.xml" Id="R27a7a5eae6e647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85747571f478e" /><Relationship Type="http://schemas.openxmlformats.org/officeDocument/2006/relationships/notesSlide" Target="/ppt/notesSlides/notesSlide4.xml" Id="R432414097cd5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1b6ebdac24512" /><Relationship Type="http://schemas.openxmlformats.org/officeDocument/2006/relationships/notesSlide" Target="/ppt/notesSlides/notesSlide5.xml" Id="Rbc71a6c5096b49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85458788749e9" /><Relationship Type="http://schemas.openxmlformats.org/officeDocument/2006/relationships/notesSlide" Target="/ppt/notesSlides/notesSlide6.xml" Id="Rba3e3d6d897849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88302be84d03" /><Relationship Type="http://schemas.openxmlformats.org/officeDocument/2006/relationships/notesSlide" Target="/ppt/notesSlides/notesSlide7.xml" Id="R40a9cc41ba6444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1">
            <a:extLst xmlns:a="http://schemas.openxmlformats.org/drawingml/2006/main">
              <a:ext uri="{FF2B5EF4-FFF2-40B4-BE49-F238E27FC236}">
                <a16:creationId xmlns:a16="http://schemas.microsoft.com/office/drawing/2014/main" id="{025BAF5E-6C10-4CE8-ADA4-CAB81D7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1">
            <a:extLst xmlns:a="http://schemas.openxmlformats.org/drawingml/2006/main">
              <a:ext uri="{FF2B5EF4-FFF2-40B4-BE49-F238E27FC236}">
                <a16:creationId xmlns:a16="http://schemas.microsoft.com/office/drawing/2014/main" id="{63D50CE8-C61A-4BA3-8589-DFCF7E46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01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9EF3318-48BF-49D6-96A5-176070D6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F2933"/>
                </a:solidFill>
              </a:defRPr>
            </a:pPr>
            <a:r>
              <a:rPr sz="4200" b="1">
                <a:solidFill>
                  <a:srgbClr val="1F2933"/>
                </a:solidFill>
              </a:rPr>
              <a:t>声桥 HearBridge</a:t>
            </a:r>
          </a:p>
        </p:txBody>
      </p:sp>
      <p:sp>
        <p:nvSpPr>
          <p:cNvPr id="4" name="one-liner">
            <a:extLst xmlns:a="http://schemas.openxmlformats.org/drawingml/2006/main">
              <a:ext uri="{FF2B5EF4-FFF2-40B4-BE49-F238E27FC236}">
                <a16:creationId xmlns:a16="http://schemas.microsoft.com/office/drawing/2014/main" id="{940EDE18-8CD6-4FB2-98AA-D64DE77E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2"/>
                </a:solidFill>
              </a:defRPr>
            </a:pPr>
            <a:r>
              <a:rPr sz="2250" b="0">
                <a:solidFill>
                  <a:srgbClr val="5B6472"/>
                </a:solidFill>
              </a:rPr>
              <a:t>帮助听障人士在真实生活场景中，用文字、大字卡片和闯关训练更顺畅地沟通。</a:t>
            </a:r>
          </a:p>
        </p:txBody>
      </p:sp>
      <p:sp>
        <p:nvSpPr>
          <p:cNvPr id="5" name="chip-网页版">
            <a:extLst xmlns:a="http://schemas.openxmlformats.org/drawingml/2006/main">
              <a:ext uri="{FF2B5EF4-FFF2-40B4-BE49-F238E27FC236}">
                <a16:creationId xmlns:a16="http://schemas.microsoft.com/office/drawing/2014/main" id="{F18BC2E8-1891-41FB-911D-84421EEA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DF5F0"/>
            </a:solidFill>
            <a:prstDash val="solid"/>
          </a:ln>
        </p:spPr>
      </p:sp>
      <p:sp>
        <p:nvSpPr>
          <p:cNvPr id="6" name="chip-text-网页版">
            <a:extLst xmlns:a="http://schemas.openxmlformats.org/drawingml/2006/main">
              <a:ext uri="{FF2B5EF4-FFF2-40B4-BE49-F238E27FC236}">
                <a16:creationId xmlns:a16="http://schemas.microsoft.com/office/drawing/2014/main" id="{13B4E2E0-1FA8-4E8E-A308-33E811E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网页版</a:t>
            </a:r>
          </a:p>
        </p:txBody>
      </p:sp>
      <p:sp>
        <p:nvSpPr>
          <p:cNvPr id="7" name="chip-iOS">
            <a:extLst xmlns:a="http://schemas.openxmlformats.org/drawingml/2006/main">
              <a:ext uri="{FF2B5EF4-FFF2-40B4-BE49-F238E27FC236}">
                <a16:creationId xmlns:a16="http://schemas.microsoft.com/office/drawing/2014/main" id="{8D4C4056-C8E8-4DB9-BB9A-ED7EABA4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7655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FFD"/>
          </a:solidFill>
          <a:ln xmlns:a="http://schemas.openxmlformats.org/drawingml/2006/main" w="9525">
            <a:solidFill>
              <a:srgbClr val="E7EFFD"/>
            </a:solidFill>
            <a:prstDash val="solid"/>
          </a:ln>
        </p:spPr>
      </p:sp>
      <p:sp>
        <p:nvSpPr>
          <p:cNvPr id="8" name="chip-text-iOS">
            <a:extLst xmlns:a="http://schemas.openxmlformats.org/drawingml/2006/main">
              <a:ext uri="{FF2B5EF4-FFF2-40B4-BE49-F238E27FC236}">
                <a16:creationId xmlns:a16="http://schemas.microsoft.com/office/drawing/2014/main" id="{F0903EB7-7815-411B-9478-23F664A4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527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iOS</a:t>
            </a:r>
          </a:p>
        </p:txBody>
      </p:sp>
      <p:sp>
        <p:nvSpPr>
          <p:cNvPr id="9" name="chip-macOS">
            <a:extLst xmlns:a="http://schemas.openxmlformats.org/drawingml/2006/main">
              <a:ext uri="{FF2B5EF4-FFF2-40B4-BE49-F238E27FC236}">
                <a16:creationId xmlns:a16="http://schemas.microsoft.com/office/drawing/2014/main" id="{3BB48A42-BD7B-4EA2-994F-9D72E3E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7655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FFF2C7"/>
            </a:solidFill>
            <a:prstDash val="solid"/>
          </a:ln>
        </p:spPr>
      </p:sp>
      <p:sp>
        <p:nvSpPr>
          <p:cNvPr id="10" name="chip-text-macOS">
            <a:extLst xmlns:a="http://schemas.openxmlformats.org/drawingml/2006/main">
              <a:ext uri="{FF2B5EF4-FFF2-40B4-BE49-F238E27FC236}">
                <a16:creationId xmlns:a16="http://schemas.microsoft.com/office/drawing/2014/main" id="{44387B12-44ED-4FE9-8BF7-6DB05783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9A16"/>
                </a:solidFill>
              </a:defRPr>
            </a:pPr>
            <a:r>
              <a:rPr sz="1350" b="1">
                <a:solidFill>
                  <a:srgbClr val="D99A16"/>
                </a:solidFill>
              </a:rPr>
              <a:t>macOS</a:t>
            </a:r>
          </a:p>
        </p:txBody>
      </p:sp>
      <p:sp>
        <p:nvSpPr>
          <p:cNvPr id="11" name="chip-Android">
            <a:extLst xmlns:a="http://schemas.openxmlformats.org/drawingml/2006/main">
              <a:ext uri="{FF2B5EF4-FFF2-40B4-BE49-F238E27FC236}">
                <a16:creationId xmlns:a16="http://schemas.microsoft.com/office/drawing/2014/main" id="{9CBD2C48-109F-4EED-A003-12EA597E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1409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DF"/>
          </a:solidFill>
          <a:ln xmlns:a="http://schemas.openxmlformats.org/drawingml/2006/main" w="9525">
            <a:solidFill>
              <a:srgbClr val="FBE8DF"/>
            </a:solidFill>
            <a:prstDash val="solid"/>
          </a:ln>
        </p:spPr>
      </p:sp>
      <p:sp>
        <p:nvSpPr>
          <p:cNvPr id="12" name="chip-text-Android">
            <a:extLst xmlns:a="http://schemas.openxmlformats.org/drawingml/2006/main">
              <a:ext uri="{FF2B5EF4-FFF2-40B4-BE49-F238E27FC236}">
                <a16:creationId xmlns:a16="http://schemas.microsoft.com/office/drawing/2014/main" id="{A1BB150B-1977-4623-82EA-AF8BF250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527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Android</a:t>
            </a:r>
          </a:p>
        </p:txBody>
      </p:sp>
      <p:sp>
        <p:nvSpPr>
          <p:cNvPr id="13" name="hero-panel">
            <a:extLst xmlns:a="http://schemas.openxmlformats.org/drawingml/2006/main">
              <a:ext uri="{FF2B5EF4-FFF2-40B4-BE49-F238E27FC236}">
                <a16:creationId xmlns:a16="http://schemas.microsoft.com/office/drawing/2014/main" id="{3856334A-E98E-4C20-97A1-A5CBEDFB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42950"/>
            <a:ext cx="3143250" cy="4667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4" name="hero-kicker">
            <a:extLst xmlns:a="http://schemas.openxmlformats.org/drawingml/2006/main">
              <a:ext uri="{FF2B5EF4-FFF2-40B4-BE49-F238E27FC236}">
                <a16:creationId xmlns:a16="http://schemas.microsoft.com/office/drawing/2014/main" id="{2207DCAE-104A-4E97-BC15-79731EFB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核心判断</a:t>
            </a:r>
          </a:p>
        </p:txBody>
      </p:sp>
      <p:sp>
        <p:nvSpPr>
          <p:cNvPr id="15" name="hero-statement">
            <a:extLst xmlns:a="http://schemas.openxmlformats.org/drawingml/2006/main">
              <a:ext uri="{FF2B5EF4-FFF2-40B4-BE49-F238E27FC236}">
                <a16:creationId xmlns:a16="http://schemas.microsoft.com/office/drawing/2014/main" id="{6965534D-2F6E-4860-ABE8-5D65F90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247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先让沟通不断线，再把 AI 训练接进真实场景。</a:t>
            </a:r>
          </a:p>
        </p:txBody>
      </p:sp>
      <p:sp>
        <p:nvSpPr>
          <p:cNvPr id="16" name="hero-small">
            <a:extLst xmlns:a="http://schemas.openxmlformats.org/drawingml/2006/main">
              <a:ext uri="{FF2B5EF4-FFF2-40B4-BE49-F238E27FC236}">
                <a16:creationId xmlns:a16="http://schemas.microsoft.com/office/drawing/2014/main" id="{D69F7D24-27CA-4DA8-B659-3FA5B092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247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没有 API key、网络失败或设备性能不足时，仍然保留打字、卡片、本地录音和常用语。</a:t>
            </a:r>
          </a:p>
        </p:txBody>
      </p:sp>
    </p:spTree>
    <p:extLst>
      <p:ext uri="{BB962C8B-B14F-4D97-AF65-F5344CB8AC3E}">
        <p14:creationId xmlns:p14="http://schemas.microsoft.com/office/powerpoint/2010/main" val="8149999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2">
            <a:extLst xmlns:a="http://schemas.openxmlformats.org/drawingml/2006/main">
              <a:ext uri="{FF2B5EF4-FFF2-40B4-BE49-F238E27FC236}">
                <a16:creationId xmlns:a16="http://schemas.microsoft.com/office/drawing/2014/main" id="{68A419A8-F5C2-4C38-B712-6661DA2C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9D921EA9-DDCE-4D61-A96C-5066C1B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E768A2E-FC46-4750-B4ED-65116974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访谈后的问题定义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2ABC30-C836-4F42-A27F-0760F189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</a:defRPr>
            </a:pPr>
            <a:r>
              <a:rPr sz="3450" b="1">
                <a:solidFill>
                  <a:srgbClr val="1F2933"/>
                </a:solidFill>
              </a:rPr>
              <a:t>听障用户真正卡住的是现场确认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F8AC39A-C89A-4EC8-9826-E8DB2593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痛点不只是“听不到”，而是高压场景里很难快速确认对方意思，也很难让对方耐心复述。</a:t>
            </a:r>
          </a:p>
        </p:txBody>
      </p:sp>
      <p:sp>
        <p:nvSpPr>
          <p:cNvPr id="6" name="pain-0">
            <a:extLst xmlns:a="http://schemas.openxmlformats.org/drawingml/2006/main">
              <a:ext uri="{FF2B5EF4-FFF2-40B4-BE49-F238E27FC236}">
                <a16:creationId xmlns:a16="http://schemas.microsoft.com/office/drawing/2014/main" id="{611A8553-E3CD-45B7-8F98-C78232CD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7" name="pain-strip-0">
            <a:extLst xmlns:a="http://schemas.openxmlformats.org/drawingml/2006/main">
              <a:ext uri="{FF2B5EF4-FFF2-40B4-BE49-F238E27FC236}">
                <a16:creationId xmlns:a16="http://schemas.microsoft.com/office/drawing/2014/main" id="{DADFB06F-9800-4A54-AA5E-DF1F7705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14300" cy="781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DF5F0"/>
            </a:solidFill>
            <a:prstDash val="solid"/>
          </a:ln>
        </p:spPr>
      </p:sp>
      <p:sp>
        <p:nvSpPr>
          <p:cNvPr id="8" name="pain-title-0">
            <a:extLst xmlns:a="http://schemas.openxmlformats.org/drawingml/2006/main">
              <a:ext uri="{FF2B5EF4-FFF2-40B4-BE49-F238E27FC236}">
                <a16:creationId xmlns:a16="http://schemas.microsoft.com/office/drawing/2014/main" id="{428866EA-66AB-40D3-AA8E-80848B50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医院</a:t>
            </a:r>
          </a:p>
        </p:txBody>
      </p:sp>
      <p:sp>
        <p:nvSpPr>
          <p:cNvPr id="9" name="pain-body-0">
            <a:extLst xmlns:a="http://schemas.openxmlformats.org/drawingml/2006/main">
              <a:ext uri="{FF2B5EF4-FFF2-40B4-BE49-F238E27FC236}">
                <a16:creationId xmlns:a16="http://schemas.microsoft.com/office/drawing/2014/main" id="{73E04ADE-C686-4342-AD40-C058018D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6235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窗口、检查、缴费都需要短时间内确认关键信息。</a:t>
            </a:r>
          </a:p>
        </p:txBody>
      </p:sp>
      <p:sp>
        <p:nvSpPr>
          <p:cNvPr id="10" name="pain-1">
            <a:extLst xmlns:a="http://schemas.openxmlformats.org/drawingml/2006/main">
              <a:ext uri="{FF2B5EF4-FFF2-40B4-BE49-F238E27FC236}">
                <a16:creationId xmlns:a16="http://schemas.microsoft.com/office/drawing/2014/main" id="{5C8AD956-CAEC-4962-B971-BA8FC26A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1" name="pain-strip-1">
            <a:extLst xmlns:a="http://schemas.openxmlformats.org/drawingml/2006/main">
              <a:ext uri="{FF2B5EF4-FFF2-40B4-BE49-F238E27FC236}">
                <a16:creationId xmlns:a16="http://schemas.microsoft.com/office/drawing/2014/main" id="{A5448B9E-8B20-436F-9006-EAD5865B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14300" cy="781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EFFD"/>
          </a:solidFill>
          <a:ln xmlns:a="http://schemas.openxmlformats.org/drawingml/2006/main" w="9525">
            <a:solidFill>
              <a:srgbClr val="E7EFFD"/>
            </a:solidFill>
            <a:prstDash val="solid"/>
          </a:ln>
        </p:spPr>
      </p:sp>
      <p:sp>
        <p:nvSpPr>
          <p:cNvPr id="12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B7CA59B3-B05A-4EB6-BEAE-DD8F1BA5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通勤</a:t>
            </a:r>
          </a:p>
        </p:txBody>
      </p:sp>
      <p:sp>
        <p:nvSpPr>
          <p:cNvPr id="13" name="pain-body-1">
            <a:extLst xmlns:a="http://schemas.openxmlformats.org/drawingml/2006/main">
              <a:ext uri="{FF2B5EF4-FFF2-40B4-BE49-F238E27FC236}">
                <a16:creationId xmlns:a16="http://schemas.microsoft.com/office/drawing/2014/main" id="{4D9730FE-A429-4133-BEF5-D3D1FFBE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广播、改签、临时通知经常无法及时获得。</a:t>
            </a:r>
          </a:p>
        </p:txBody>
      </p:sp>
      <p:sp>
        <p:nvSpPr>
          <p:cNvPr id="14" name="pain-2">
            <a:extLst xmlns:a="http://schemas.openxmlformats.org/drawingml/2006/main">
              <a:ext uri="{FF2B5EF4-FFF2-40B4-BE49-F238E27FC236}">
                <a16:creationId xmlns:a16="http://schemas.microsoft.com/office/drawing/2014/main" id="{FF797761-B2A2-489A-B6C3-7E2B8A9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5" name="pain-strip-2">
            <a:extLst xmlns:a="http://schemas.openxmlformats.org/drawingml/2006/main">
              <a:ext uri="{FF2B5EF4-FFF2-40B4-BE49-F238E27FC236}">
                <a16:creationId xmlns:a16="http://schemas.microsoft.com/office/drawing/2014/main" id="{A94A0D2F-B86D-46C5-B654-99C9C266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14300" cy="781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FFF2C7"/>
            </a:solidFill>
            <a:prstDash val="solid"/>
          </a:ln>
        </p:spPr>
      </p:sp>
      <p:sp>
        <p:nvSpPr>
          <p:cNvPr id="16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5EA67EEA-65AE-4591-B2F1-6295292E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0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9A16"/>
                </a:solidFill>
              </a:defRPr>
            </a:pPr>
            <a:r>
              <a:rPr sz="1650" b="1">
                <a:solidFill>
                  <a:srgbClr val="D99A16"/>
                </a:solidFill>
              </a:rPr>
              <a:t>工作</a:t>
            </a:r>
          </a:p>
        </p:txBody>
      </p:sp>
      <p:sp>
        <p:nvSpPr>
          <p:cNvPr id="17" name="pain-body-2">
            <a:extLst xmlns:a="http://schemas.openxmlformats.org/drawingml/2006/main">
              <a:ext uri="{FF2B5EF4-FFF2-40B4-BE49-F238E27FC236}">
                <a16:creationId xmlns:a16="http://schemas.microsoft.com/office/drawing/2014/main" id="{BAB1F62D-3443-41A8-8573-75D392AE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101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会议和临时沟通容易遗漏任务边界。</a:t>
            </a:r>
          </a:p>
        </p:txBody>
      </p:sp>
      <p:sp>
        <p:nvSpPr>
          <p:cNvPr id="18" name="pain-3">
            <a:extLst xmlns:a="http://schemas.openxmlformats.org/drawingml/2006/main">
              <a:ext uri="{FF2B5EF4-FFF2-40B4-BE49-F238E27FC236}">
                <a16:creationId xmlns:a16="http://schemas.microsoft.com/office/drawing/2014/main" id="{6690522B-4E2A-4F1D-99B8-15593C69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9" name="pain-strip-3">
            <a:extLst xmlns:a="http://schemas.openxmlformats.org/drawingml/2006/main">
              <a:ext uri="{FF2B5EF4-FFF2-40B4-BE49-F238E27FC236}">
                <a16:creationId xmlns:a16="http://schemas.microsoft.com/office/drawing/2014/main" id="{71983CE5-2FB3-4DD7-9229-A92C2F3C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114300" cy="781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E8DF"/>
          </a:solidFill>
          <a:ln xmlns:a="http://schemas.openxmlformats.org/drawingml/2006/main" w="9525">
            <a:solidFill>
              <a:srgbClr val="FBE8DF"/>
            </a:solidFill>
            <a:prstDash val="solid"/>
          </a:ln>
        </p:spPr>
      </p:sp>
      <p:sp>
        <p:nvSpPr>
          <p:cNvPr id="20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BE71DB4E-1FDC-41BF-8A6C-0AB55C45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580C"/>
                </a:solidFill>
              </a:defRPr>
            </a:pPr>
            <a:r>
              <a:rPr sz="1650" b="1">
                <a:solidFill>
                  <a:srgbClr val="EA580C"/>
                </a:solidFill>
              </a:rPr>
              <a:t>生活</a:t>
            </a:r>
          </a:p>
        </p:txBody>
      </p:sp>
      <p:sp>
        <p:nvSpPr>
          <p:cNvPr id="21" name="pain-body-3">
            <a:extLst xmlns:a="http://schemas.openxmlformats.org/drawingml/2006/main">
              <a:ext uri="{FF2B5EF4-FFF2-40B4-BE49-F238E27FC236}">
                <a16:creationId xmlns:a16="http://schemas.microsoft.com/office/drawing/2014/main" id="{B252352F-A9F9-4AE8-A24D-FE6E99C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0100"/>
            <a:ext cx="312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点单、问路、维修等场景需要低成本表达。</a:t>
            </a:r>
          </a:p>
        </p:txBody>
      </p:sp>
    </p:spTree>
    <p:extLst>
      <p:ext uri="{BB962C8B-B14F-4D97-AF65-F5344CB8AC3E}">
        <p14:creationId xmlns:p14="http://schemas.microsoft.com/office/powerpoint/2010/main" val="1985488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3">
            <a:extLst xmlns:a="http://schemas.openxmlformats.org/drawingml/2006/main">
              <a:ext uri="{FF2B5EF4-FFF2-40B4-BE49-F238E27FC236}">
                <a16:creationId xmlns:a16="http://schemas.microsoft.com/office/drawing/2014/main" id="{C3B9AA21-6014-4FDA-AC73-E3F1D2E4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248C248A-9CE3-4A77-9DE4-CF51B1D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E24FB24-9DAE-45F9-87F6-4F29C3EB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产品原则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95E475-FD01-4761-9EE8-7D684FD1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</a:defRPr>
            </a:pPr>
            <a:r>
              <a:rPr sz="3450" b="1">
                <a:solidFill>
                  <a:srgbClr val="1F2933"/>
                </a:solidFill>
              </a:rPr>
              <a:t>声桥不是“替人说话”，而是把确认变简单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C1B9376-18DC-4370-A3A0-A49A9D2C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每个功能都围绕一个目标：让双方在现场更快进入同一个上下文。</a:t>
            </a:r>
          </a:p>
        </p:txBody>
      </p:sp>
      <p:sp>
        <p:nvSpPr>
          <p:cNvPr id="6" name="principle-0">
            <a:extLst xmlns:a="http://schemas.openxmlformats.org/drawingml/2006/main">
              <a:ext uri="{FF2B5EF4-FFF2-40B4-BE49-F238E27FC236}">
                <a16:creationId xmlns:a16="http://schemas.microsoft.com/office/drawing/2014/main" id="{46D0893A-0B17-4EB4-BC6F-CE95B74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30289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26DFE528-6C09-4E37-B38B-A41AC9FE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A12CC163-78E7-4AAE-80DB-92745724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principle-title-0">
            <a:extLst xmlns:a="http://schemas.openxmlformats.org/drawingml/2006/main">
              <a:ext uri="{FF2B5EF4-FFF2-40B4-BE49-F238E27FC236}">
                <a16:creationId xmlns:a16="http://schemas.microsoft.com/office/drawing/2014/main" id="{74190082-D38E-439D-B672-CB0655F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3"/>
                </a:solidFill>
              </a:defRPr>
            </a:pPr>
            <a:r>
              <a:rPr sz="1950" b="1">
                <a:solidFill>
                  <a:srgbClr val="1F2933"/>
                </a:solidFill>
              </a:rPr>
              <a:t>大字表达</a:t>
            </a:r>
          </a:p>
        </p:txBody>
      </p:sp>
      <p:sp>
        <p:nvSpPr>
          <p:cNvPr id="10" name="principle-body-0">
            <a:extLst xmlns:a="http://schemas.openxmlformats.org/drawingml/2006/main">
              <a:ext uri="{FF2B5EF4-FFF2-40B4-BE49-F238E27FC236}">
                <a16:creationId xmlns:a16="http://schemas.microsoft.com/office/drawing/2014/main" id="{0BFEFD60-54E3-426D-B9F2-2E2DCB37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给对方看得懂的请求、确认与提醒。</a:t>
            </a:r>
          </a:p>
        </p:txBody>
      </p:sp>
      <p:sp>
        <p:nvSpPr>
          <p:cNvPr id="11" name="principle-1">
            <a:extLst xmlns:a="http://schemas.openxmlformats.org/drawingml/2006/main">
              <a:ext uri="{FF2B5EF4-FFF2-40B4-BE49-F238E27FC236}">
                <a16:creationId xmlns:a16="http://schemas.microsoft.com/office/drawing/2014/main" id="{CB0330FA-331C-47A6-BACA-571AE622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30289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2" name="dot-1">
            <a:extLst xmlns:a="http://schemas.openxmlformats.org/drawingml/2006/main">
              <a:ext uri="{FF2B5EF4-FFF2-40B4-BE49-F238E27FC236}">
                <a16:creationId xmlns:a16="http://schemas.microsoft.com/office/drawing/2014/main" id="{861A3BA1-6D73-4A90-A05D-63C6CB3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81629186-81A9-4CA0-A553-659BC7C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90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principle-title-1">
            <a:extLst xmlns:a="http://schemas.openxmlformats.org/drawingml/2006/main">
              <a:ext uri="{FF2B5EF4-FFF2-40B4-BE49-F238E27FC236}">
                <a16:creationId xmlns:a16="http://schemas.microsoft.com/office/drawing/2014/main" id="{D9232464-B6AA-4911-B28A-80421C27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3"/>
                </a:solidFill>
              </a:defRPr>
            </a:pPr>
            <a:r>
              <a:rPr sz="1950" b="1">
                <a:solidFill>
                  <a:srgbClr val="1F2933"/>
                </a:solidFill>
              </a:rPr>
              <a:t>场景卡片</a:t>
            </a:r>
          </a:p>
        </p:txBody>
      </p:sp>
      <p:sp>
        <p:nvSpPr>
          <p:cNvPr id="15" name="principle-body-1">
            <a:extLst xmlns:a="http://schemas.openxmlformats.org/drawingml/2006/main">
              <a:ext uri="{FF2B5EF4-FFF2-40B4-BE49-F238E27FC236}">
                <a16:creationId xmlns:a16="http://schemas.microsoft.com/office/drawing/2014/main" id="{9A2D4F0D-25EC-477E-9BDD-14EE059B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815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医院、通勤、工作、生活可以一键切换。</a:t>
            </a:r>
          </a:p>
        </p:txBody>
      </p:sp>
      <p:sp>
        <p:nvSpPr>
          <p:cNvPr id="16" name="principle-2">
            <a:extLst xmlns:a="http://schemas.openxmlformats.org/drawingml/2006/main">
              <a:ext uri="{FF2B5EF4-FFF2-40B4-BE49-F238E27FC236}">
                <a16:creationId xmlns:a16="http://schemas.microsoft.com/office/drawing/2014/main" id="{177DC011-E68A-43F6-9D87-3FFE4F0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30289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7" name="dot-2">
            <a:extLst xmlns:a="http://schemas.openxmlformats.org/drawingml/2006/main">
              <a:ext uri="{FF2B5EF4-FFF2-40B4-BE49-F238E27FC236}">
                <a16:creationId xmlns:a16="http://schemas.microsoft.com/office/drawing/2014/main" id="{BA987CC1-D6FC-48F8-AECB-7F0AB0D0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AB62F64B-3957-4A73-90DE-C19DBA9A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rinciple-title-2">
            <a:extLst xmlns:a="http://schemas.openxmlformats.org/drawingml/2006/main">
              <a:ext uri="{FF2B5EF4-FFF2-40B4-BE49-F238E27FC236}">
                <a16:creationId xmlns:a16="http://schemas.microsoft.com/office/drawing/2014/main" id="{7F737718-A548-4278-8825-41EA92C7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3"/>
                </a:solidFill>
              </a:defRPr>
            </a:pPr>
            <a:r>
              <a:rPr sz="1950" b="1">
                <a:solidFill>
                  <a:srgbClr val="1F2933"/>
                </a:solidFill>
              </a:rPr>
              <a:t>本地训练</a:t>
            </a:r>
          </a:p>
        </p:txBody>
      </p:sp>
      <p:sp>
        <p:nvSpPr>
          <p:cNvPr id="20" name="principle-body-2">
            <a:extLst xmlns:a="http://schemas.openxmlformats.org/drawingml/2006/main">
              <a:ext uri="{FF2B5EF4-FFF2-40B4-BE49-F238E27FC236}">
                <a16:creationId xmlns:a16="http://schemas.microsoft.com/office/drawing/2014/main" id="{A9512EC9-D9B8-44C3-B5A6-09FFABF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81550"/>
            <a:ext cx="2343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录音样本、热词和常用句逐步沉淀到个人设备。</a:t>
            </a:r>
          </a:p>
        </p:txBody>
      </p:sp>
    </p:spTree>
    <p:extLst>
      <p:ext uri="{BB962C8B-B14F-4D97-AF65-F5344CB8AC3E}">
        <p14:creationId xmlns:p14="http://schemas.microsoft.com/office/powerpoint/2010/main" val="884380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4">
            <a:extLst xmlns:a="http://schemas.openxmlformats.org/drawingml/2006/main">
              <a:ext uri="{FF2B5EF4-FFF2-40B4-BE49-F238E27FC236}">
                <a16:creationId xmlns:a16="http://schemas.microsoft.com/office/drawing/2014/main" id="{A5EAE5AB-0549-441E-81D9-C31B6221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CF2112A7-1D21-4129-ADCD-99424A33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4EA8057-64AB-4E7C-87DF-86600FA5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用户体验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77D34A-54F8-4ADC-BDBA-C1E2C6F6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</a:defRPr>
            </a:pPr>
            <a:r>
              <a:rPr sz="3450" b="1">
                <a:solidFill>
                  <a:srgbClr val="1F2933"/>
                </a:solidFill>
              </a:rPr>
              <a:t>把复杂能力拆成三个入口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0A116AD-31DB-47DF-8403-516DF537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用户先选身份和场景，再选择最轻的沟通方式；AI 训练在使用过程中自然发生。</a:t>
            </a:r>
          </a:p>
        </p:txBody>
      </p:sp>
      <p:sp>
        <p:nvSpPr>
          <p:cNvPr id="6" name="step-0">
            <a:extLst xmlns:a="http://schemas.openxmlformats.org/drawingml/2006/main">
              <a:ext uri="{FF2B5EF4-FFF2-40B4-BE49-F238E27FC236}">
                <a16:creationId xmlns:a16="http://schemas.microsoft.com/office/drawing/2014/main" id="{D213F475-9C50-4AF9-B901-0CE261A3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7" name="step-num-0">
            <a:extLst xmlns:a="http://schemas.openxmlformats.org/drawingml/2006/main">
              <a:ext uri="{FF2B5EF4-FFF2-40B4-BE49-F238E27FC236}">
                <a16:creationId xmlns:a16="http://schemas.microsoft.com/office/drawing/2014/main" id="{10D0DC1D-7999-4C71-BCF5-50277748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623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step-num-text-0">
            <a:extLst xmlns:a="http://schemas.openxmlformats.org/drawingml/2006/main">
              <a:ext uri="{FF2B5EF4-FFF2-40B4-BE49-F238E27FC236}">
                <a16:creationId xmlns:a16="http://schemas.microsoft.com/office/drawing/2014/main" id="{6D1134B3-4D1A-448B-97E9-86ACABC3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802BD5F-D89D-4395-85F4-94E1DAE0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选角色</a:t>
            </a:r>
          </a:p>
        </p:txBody>
      </p:sp>
      <p:sp>
        <p:nvSpPr>
          <p:cNvPr id="10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201B60D-FEF9-4310-99DE-05591B20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909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听障用户、陪同者、服务人员看到不同默认文案。</a:t>
            </a:r>
          </a:p>
        </p:txBody>
      </p:sp>
      <p:sp>
        <p:nvSpPr>
          <p:cNvPr id="11" name="step-1">
            <a:extLst xmlns:a="http://schemas.openxmlformats.org/drawingml/2006/main">
              <a:ext uri="{FF2B5EF4-FFF2-40B4-BE49-F238E27FC236}">
                <a16:creationId xmlns:a16="http://schemas.microsoft.com/office/drawing/2014/main" id="{7E1EC01A-7374-4F8C-B832-9E86CA0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FC89F87F-9B54-4970-8300-B67326D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386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step-num-text-1">
            <a:extLst xmlns:a="http://schemas.openxmlformats.org/drawingml/2006/main">
              <a:ext uri="{FF2B5EF4-FFF2-40B4-BE49-F238E27FC236}">
                <a16:creationId xmlns:a16="http://schemas.microsoft.com/office/drawing/2014/main" id="{9172E5E7-FDBA-407B-89F9-DDA5952D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053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1432253-105F-4701-A91A-39A48A7A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选场景</a:t>
            </a:r>
          </a:p>
        </p:txBody>
      </p:sp>
      <p:sp>
        <p:nvSpPr>
          <p:cNvPr id="15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2E8DF4C-9BF0-4933-B18F-C5B1AC85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67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医院、通勤、工作、生活加载对应话术和目标。</a:t>
            </a:r>
          </a:p>
        </p:txBody>
      </p:sp>
      <p:sp>
        <p:nvSpPr>
          <p:cNvPr id="16" name="step-2">
            <a:extLst xmlns:a="http://schemas.openxmlformats.org/drawingml/2006/main">
              <a:ext uri="{FF2B5EF4-FFF2-40B4-BE49-F238E27FC236}">
                <a16:creationId xmlns:a16="http://schemas.microsoft.com/office/drawing/2014/main" id="{241D2D31-1307-40B1-981F-17ED354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9906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7" name="step-num-2">
            <a:extLst xmlns:a="http://schemas.openxmlformats.org/drawingml/2006/main">
              <a:ext uri="{FF2B5EF4-FFF2-40B4-BE49-F238E27FC236}">
                <a16:creationId xmlns:a16="http://schemas.microsoft.com/office/drawing/2014/main" id="{5D11527F-DDEA-4504-8E0A-5730E5BC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step-num-text-2">
            <a:extLst xmlns:a="http://schemas.openxmlformats.org/drawingml/2006/main">
              <a:ext uri="{FF2B5EF4-FFF2-40B4-BE49-F238E27FC236}">
                <a16:creationId xmlns:a16="http://schemas.microsoft.com/office/drawing/2014/main" id="{E45D4453-9917-4B27-BDD6-A32F1E8D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7047DC0-022D-4A7A-8B95-012F020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933"/>
                </a:solidFill>
              </a:defRPr>
            </a:pPr>
            <a:r>
              <a:rPr sz="1800" b="1">
                <a:solidFill>
                  <a:srgbClr val="1F2933"/>
                </a:solidFill>
              </a:rPr>
              <a:t>沟通并沉淀</a:t>
            </a:r>
          </a:p>
        </p:txBody>
      </p:sp>
      <p:sp>
        <p:nvSpPr>
          <p:cNvPr id="2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4A5FEF4-17BB-4FFD-B0F1-1B64E1A9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打字、录音、卡片都能变成热词和训练样本。</a:t>
            </a:r>
          </a:p>
        </p:txBody>
      </p:sp>
    </p:spTree>
    <p:extLst>
      <p:ext uri="{BB962C8B-B14F-4D97-AF65-F5344CB8AC3E}">
        <p14:creationId xmlns:p14="http://schemas.microsoft.com/office/powerpoint/2010/main" val="2139902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5">
            <a:extLst xmlns:a="http://schemas.openxmlformats.org/drawingml/2006/main">
              <a:ext uri="{FF2B5EF4-FFF2-40B4-BE49-F238E27FC236}">
                <a16:creationId xmlns:a16="http://schemas.microsoft.com/office/drawing/2014/main" id="{724B5134-8197-4C1D-9398-590275C4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94EC211C-51C5-45D5-A1B3-FDABDAD6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955062C-29EF-476E-839A-476866A7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闯关与训练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6D36D3-366D-48F9-AE75-83D6534A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</a:defRPr>
            </a:pPr>
            <a:r>
              <a:rPr sz="3450" b="1">
                <a:solidFill>
                  <a:srgbClr val="1F2933"/>
                </a:solidFill>
              </a:rPr>
              <a:t>游戏化不是装饰，是把练习变成样本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C459127-E41C-4790-BF3D-0058F8A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闯关模式让用户练习真实场景表达，也把个人发音、常用词和高频问答沉淀到本地。</a:t>
            </a:r>
          </a:p>
        </p:txBody>
      </p:sp>
      <p:sp>
        <p:nvSpPr>
          <p:cNvPr id="6" name="lane-0">
            <a:extLst xmlns:a="http://schemas.openxmlformats.org/drawingml/2006/main">
              <a:ext uri="{FF2B5EF4-FFF2-40B4-BE49-F238E27FC236}">
                <a16:creationId xmlns:a16="http://schemas.microsoft.com/office/drawing/2014/main" id="{D30F43A5-0CB9-4A97-85FC-EA12B546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190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F5F0"/>
          </a:solidFill>
          <a:ln xmlns:a="http://schemas.openxmlformats.org/drawingml/2006/main" w="9525">
            <a:solidFill>
              <a:srgbClr val="DDF5F0"/>
            </a:solidFill>
            <a:prstDash val="solid"/>
          </a:ln>
        </p:spPr>
      </p:sp>
      <p:sp>
        <p:nvSpPr>
          <p:cNvPr id="7" name="lane-title-0">
            <a:extLst xmlns:a="http://schemas.openxmlformats.org/drawingml/2006/main">
              <a:ext uri="{FF2B5EF4-FFF2-40B4-BE49-F238E27FC236}">
                <a16:creationId xmlns:a16="http://schemas.microsoft.com/office/drawing/2014/main" id="{1D26FB6C-4FEE-4F93-B178-1A5DB7BB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打字闯关</a:t>
            </a:r>
          </a:p>
        </p:txBody>
      </p:sp>
      <p:sp>
        <p:nvSpPr>
          <p:cNvPr id="8" name="lane-body-0">
            <a:extLst xmlns:a="http://schemas.openxmlformats.org/drawingml/2006/main">
              <a:ext uri="{FF2B5EF4-FFF2-40B4-BE49-F238E27FC236}">
                <a16:creationId xmlns:a16="http://schemas.microsoft.com/office/drawing/2014/main" id="{36D94150-65B4-47EE-999D-7B98FB33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训练表达清晰度</a:t>
            </a:r>
          </a:p>
        </p:txBody>
      </p:sp>
      <p:sp>
        <p:nvSpPr>
          <p:cNvPr id="9" name="lane-1">
            <a:extLst xmlns:a="http://schemas.openxmlformats.org/drawingml/2006/main">
              <a:ext uri="{FF2B5EF4-FFF2-40B4-BE49-F238E27FC236}">
                <a16:creationId xmlns:a16="http://schemas.microsoft.com/office/drawing/2014/main" id="{BEFDA938-08A6-4773-9251-EECE894F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2190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EFFD"/>
          </a:solidFill>
          <a:ln xmlns:a="http://schemas.openxmlformats.org/drawingml/2006/main" w="9525">
            <a:solidFill>
              <a:srgbClr val="E7EFFD"/>
            </a:solidFill>
            <a:prstDash val="solid"/>
          </a:ln>
        </p:spPr>
      </p:sp>
      <p:sp>
        <p:nvSpPr>
          <p:cNvPr id="10" name="lane-title-1">
            <a:extLst xmlns:a="http://schemas.openxmlformats.org/drawingml/2006/main">
              <a:ext uri="{FF2B5EF4-FFF2-40B4-BE49-F238E27FC236}">
                <a16:creationId xmlns:a16="http://schemas.microsoft.com/office/drawing/2014/main" id="{B06B114F-BFE9-4624-8593-60C9EF83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385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录音闯关</a:t>
            </a:r>
          </a:p>
        </p:txBody>
      </p:sp>
      <p:sp>
        <p:nvSpPr>
          <p:cNvPr id="11" name="lane-body-1">
            <a:extLst xmlns:a="http://schemas.openxmlformats.org/drawingml/2006/main">
              <a:ext uri="{FF2B5EF4-FFF2-40B4-BE49-F238E27FC236}">
                <a16:creationId xmlns:a16="http://schemas.microsoft.com/office/drawing/2014/main" id="{45A4A295-4045-4748-9E96-0657850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积累个人声学样本</a:t>
            </a:r>
          </a:p>
        </p:txBody>
      </p:sp>
      <p:sp>
        <p:nvSpPr>
          <p:cNvPr id="12" name="lane-2">
            <a:extLst xmlns:a="http://schemas.openxmlformats.org/drawingml/2006/main">
              <a:ext uri="{FF2B5EF4-FFF2-40B4-BE49-F238E27FC236}">
                <a16:creationId xmlns:a16="http://schemas.microsoft.com/office/drawing/2014/main" id="{E2B4F794-CF79-4883-B68B-9ABFDF15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2190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9525">
            <a:solidFill>
              <a:srgbClr val="FFF2C7"/>
            </a:solidFill>
            <a:prstDash val="solid"/>
          </a:ln>
        </p:spPr>
      </p:sp>
      <p:sp>
        <p:nvSpPr>
          <p:cNvPr id="13" name="lane-title-2">
            <a:extLst xmlns:a="http://schemas.openxmlformats.org/drawingml/2006/main">
              <a:ext uri="{FF2B5EF4-FFF2-40B4-BE49-F238E27FC236}">
                <a16:creationId xmlns:a16="http://schemas.microsoft.com/office/drawing/2014/main" id="{703720F4-FF4F-4FB0-8966-48D8CF78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9A16"/>
                </a:solidFill>
              </a:defRPr>
            </a:pPr>
            <a:r>
              <a:rPr sz="1875" b="1">
                <a:solidFill>
                  <a:srgbClr val="D99A16"/>
                </a:solidFill>
              </a:rPr>
              <a:t>卡片闯关</a:t>
            </a:r>
          </a:p>
        </p:txBody>
      </p:sp>
      <p:sp>
        <p:nvSpPr>
          <p:cNvPr id="14" name="lane-body-2">
            <a:extLst xmlns:a="http://schemas.openxmlformats.org/drawingml/2006/main">
              <a:ext uri="{FF2B5EF4-FFF2-40B4-BE49-F238E27FC236}">
                <a16:creationId xmlns:a16="http://schemas.microsoft.com/office/drawing/2014/main" id="{035DEAA3-CACC-4FBE-89B0-22100475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957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形成可复用短句库</a:t>
            </a:r>
          </a:p>
        </p:txBody>
      </p:sp>
      <p:sp>
        <p:nvSpPr>
          <p:cNvPr id="15" name="lane-3">
            <a:extLst xmlns:a="http://schemas.openxmlformats.org/drawingml/2006/main">
              <a:ext uri="{FF2B5EF4-FFF2-40B4-BE49-F238E27FC236}">
                <a16:creationId xmlns:a16="http://schemas.microsoft.com/office/drawing/2014/main" id="{38154C9B-AC0E-4C7B-84E1-A840C5C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219075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8DF"/>
          </a:solidFill>
          <a:ln xmlns:a="http://schemas.openxmlformats.org/drawingml/2006/main" w="9525">
            <a:solidFill>
              <a:srgbClr val="FBE8DF"/>
            </a:solidFill>
            <a:prstDash val="solid"/>
          </a:ln>
        </p:spPr>
      </p:sp>
      <p:sp>
        <p:nvSpPr>
          <p:cNvPr id="16" name="lane-title-3">
            <a:extLst xmlns:a="http://schemas.openxmlformats.org/drawingml/2006/main">
              <a:ext uri="{FF2B5EF4-FFF2-40B4-BE49-F238E27FC236}">
                <a16:creationId xmlns:a16="http://schemas.microsoft.com/office/drawing/2014/main" id="{4DB053BA-6848-48AF-B446-B02D3A1C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580C"/>
                </a:solidFill>
              </a:defRPr>
            </a:pPr>
            <a:r>
              <a:rPr sz="1875" b="1">
                <a:solidFill>
                  <a:srgbClr val="EA580C"/>
                </a:solidFill>
              </a:rPr>
              <a:t>场景复盘</a:t>
            </a:r>
          </a:p>
        </p:txBody>
      </p:sp>
      <p:sp>
        <p:nvSpPr>
          <p:cNvPr id="17" name="lane-body-3">
            <a:extLst xmlns:a="http://schemas.openxmlformats.org/drawingml/2006/main">
              <a:ext uri="{FF2B5EF4-FFF2-40B4-BE49-F238E27FC236}">
                <a16:creationId xmlns:a16="http://schemas.microsoft.com/office/drawing/2014/main" id="{238DEC4B-CE4B-4598-8470-8E743FB4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1600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更新热词和提醒</a:t>
            </a:r>
          </a:p>
        </p:txBody>
      </p:sp>
      <p:sp>
        <p:nvSpPr>
          <p:cNvPr id="18" name="training-note">
            <a:extLst xmlns:a="http://schemas.openxmlformats.org/drawingml/2006/main">
              <a:ext uri="{FF2B5EF4-FFF2-40B4-BE49-F238E27FC236}">
                <a16:creationId xmlns:a16="http://schemas.microsoft.com/office/drawing/2014/main" id="{B23227EC-7EC1-4C92-A802-85821ECA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149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训练策略：先离线收集、人工确认，再接入可选识别服务；低端设备只保留轻量热词和短句。</a:t>
            </a:r>
          </a:p>
        </p:txBody>
      </p:sp>
    </p:spTree>
    <p:extLst>
      <p:ext uri="{BB962C8B-B14F-4D97-AF65-F5344CB8AC3E}">
        <p14:creationId xmlns:p14="http://schemas.microsoft.com/office/powerpoint/2010/main" val="922678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6">
            <a:extLst xmlns:a="http://schemas.openxmlformats.org/drawingml/2006/main">
              <a:ext uri="{FF2B5EF4-FFF2-40B4-BE49-F238E27FC236}">
                <a16:creationId xmlns:a16="http://schemas.microsoft.com/office/drawing/2014/main" id="{0D73110A-F8A2-4F54-B77B-FCA9DA0A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A2D49097-A4C2-4D51-A81A-10718B95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D8AAED6-6597-4A16-A332-F071708C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全端落地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A6F84D-1C22-4C95-A64E-7FAF6A65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</a:defRPr>
            </a:pPr>
            <a:r>
              <a:rPr sz="3450" b="1">
                <a:solidFill>
                  <a:srgbClr val="1F2933"/>
                </a:solidFill>
              </a:rPr>
              <a:t>网站、App 和下载中心用同一份能力说明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7D547D5-2012-4413-9094-CAEA9071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Web 负责最快触达，Android/iOS/macOS 负责系统级体验；manifest 负责版本可见、更新可推送。</a:t>
            </a:r>
          </a:p>
        </p:txBody>
      </p:sp>
      <p:sp>
        <p:nvSpPr>
          <p:cNvPr id="6" name="platform-title-0">
            <a:extLst xmlns:a="http://schemas.openxmlformats.org/drawingml/2006/main">
              <a:ext uri="{FF2B5EF4-FFF2-40B4-BE49-F238E27FC236}">
                <a16:creationId xmlns:a16="http://schemas.microsoft.com/office/drawing/2014/main" id="{2066843F-2282-4B42-A6F5-7BAC030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Web H5</a:t>
            </a:r>
          </a:p>
        </p:txBody>
      </p:sp>
      <p:sp>
        <p:nvSpPr>
          <p:cNvPr id="7" name="platform-line-0">
            <a:extLst xmlns:a="http://schemas.openxmlformats.org/drawingml/2006/main">
              <a:ext uri="{FF2B5EF4-FFF2-40B4-BE49-F238E27FC236}">
                <a16:creationId xmlns:a16="http://schemas.microsoft.com/office/drawing/2014/main" id="{39208F67-8144-4BC9-93DD-07B9C6F5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7429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platform-body-0">
            <a:extLst xmlns:a="http://schemas.openxmlformats.org/drawingml/2006/main">
              <a:ext uri="{FF2B5EF4-FFF2-40B4-BE49-F238E27FC236}">
                <a16:creationId xmlns:a16="http://schemas.microsoft.com/office/drawing/2014/main" id="{9DFF3EFC-D31B-4983-92A4-A0C0967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无需安装，适合现场快速打开。</a:t>
            </a:r>
          </a:p>
        </p:txBody>
      </p:sp>
      <p:sp>
        <p:nvSpPr>
          <p:cNvPr id="9" name="platform-title-1">
            <a:extLst xmlns:a="http://schemas.openxmlformats.org/drawingml/2006/main">
              <a:ext uri="{FF2B5EF4-FFF2-40B4-BE49-F238E27FC236}">
                <a16:creationId xmlns:a16="http://schemas.microsoft.com/office/drawing/2014/main" id="{CE4219DB-37FF-4CD7-B2D3-2EAAB3B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Android</a:t>
            </a:r>
          </a:p>
        </p:txBody>
      </p:sp>
      <p:sp>
        <p:nvSpPr>
          <p:cNvPr id="10" name="platform-line-1">
            <a:extLst xmlns:a="http://schemas.openxmlformats.org/drawingml/2006/main">
              <a:ext uri="{FF2B5EF4-FFF2-40B4-BE49-F238E27FC236}">
                <a16:creationId xmlns:a16="http://schemas.microsoft.com/office/drawing/2014/main" id="{D4B5E152-DBA1-4B98-A957-2CD48D29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7429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platform-body-1">
            <a:extLst xmlns:a="http://schemas.openxmlformats.org/drawingml/2006/main">
              <a:ext uri="{FF2B5EF4-FFF2-40B4-BE49-F238E27FC236}">
                <a16:creationId xmlns:a16="http://schemas.microsoft.com/office/drawing/2014/main" id="{DCDE2192-840E-4EBC-BAA0-ACF0D23A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下载 APK，后续支持接收 manifest 新版本并调用系统安装器。</a:t>
            </a:r>
          </a:p>
        </p:txBody>
      </p:sp>
      <p:sp>
        <p:nvSpPr>
          <p:cNvPr id="12" name="platform-title-2">
            <a:extLst xmlns:a="http://schemas.openxmlformats.org/drawingml/2006/main">
              <a:ext uri="{FF2B5EF4-FFF2-40B4-BE49-F238E27FC236}">
                <a16:creationId xmlns:a16="http://schemas.microsoft.com/office/drawing/2014/main" id="{77F3D821-4536-4855-B75F-7D045693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A580C"/>
                </a:solidFill>
              </a:defRPr>
            </a:pPr>
            <a:r>
              <a:rPr sz="1875" b="1">
                <a:solidFill>
                  <a:srgbClr val="EA580C"/>
                </a:solidFill>
              </a:rPr>
              <a:t>iOS / macOS</a:t>
            </a:r>
          </a:p>
        </p:txBody>
      </p:sp>
      <p:sp>
        <p:nvSpPr>
          <p:cNvPr id="13" name="platform-line-2">
            <a:extLst xmlns:a="http://schemas.openxmlformats.org/drawingml/2006/main">
              <a:ext uri="{FF2B5EF4-FFF2-40B4-BE49-F238E27FC236}">
                <a16:creationId xmlns:a16="http://schemas.microsoft.com/office/drawing/2014/main" id="{6DBD7133-29F5-4A0E-BE18-BE1732DE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7429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4" name="platform-body-2">
            <a:extLst xmlns:a="http://schemas.openxmlformats.org/drawingml/2006/main">
              <a:ext uri="{FF2B5EF4-FFF2-40B4-BE49-F238E27FC236}">
                <a16:creationId xmlns:a16="http://schemas.microsoft.com/office/drawing/2014/main" id="{F4D0E699-C641-468C-BB4C-2B16D70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244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统一简介、安装包和版本号，便于下载中心展示。</a:t>
            </a:r>
          </a:p>
        </p:txBody>
      </p:sp>
    </p:spTree>
    <p:extLst>
      <p:ext uri="{BB962C8B-B14F-4D97-AF65-F5344CB8AC3E}">
        <p14:creationId xmlns:p14="http://schemas.microsoft.com/office/powerpoint/2010/main" val="424281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ooter-7">
            <a:extLst xmlns:a="http://schemas.openxmlformats.org/drawingml/2006/main">
              <a:ext uri="{FF2B5EF4-FFF2-40B4-BE49-F238E27FC236}">
                <a16:creationId xmlns:a16="http://schemas.microsoft.com/office/drawing/2014/main" id="{D64CBCCC-EE27-4F87-8D87-81930931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HearBridge / ZhengZheng Studio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8DA672E0-269F-4EA9-92E5-FB0C1249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293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2"/>
                </a:solidFill>
              </a:defRPr>
            </a:pPr>
            <a:r>
              <a:rPr sz="1200" b="1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1DD2D19-410E-4264-95E4-9BF282F7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开源路线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E775C5-FC3E-4DF7-954C-97D2955F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</a:defRPr>
            </a:pPr>
            <a:r>
              <a:rPr sz="3450" b="1">
                <a:solidFill>
                  <a:srgbClr val="1F2933"/>
                </a:solidFill>
              </a:rPr>
              <a:t>下一步让更多真实场景来训练声桥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CCC2B1D-0FAC-4B06-83DB-E817BA7D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项目会优先补齐可用性和样本闭环，再逐步增强本地识别、跨端更新和社区共建。</a:t>
            </a:r>
          </a:p>
        </p:txBody>
      </p:sp>
      <p:sp>
        <p:nvSpPr>
          <p:cNvPr id="6" name="next-0">
            <a:extLst xmlns:a="http://schemas.openxmlformats.org/drawingml/2006/main">
              <a:ext uri="{FF2B5EF4-FFF2-40B4-BE49-F238E27FC236}">
                <a16:creationId xmlns:a16="http://schemas.microsoft.com/office/drawing/2014/main" id="{C872388A-4A2A-4BDC-AA50-69C7F5F6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191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7" name="next-title-0">
            <a:extLst xmlns:a="http://schemas.openxmlformats.org/drawingml/2006/main">
              <a:ext uri="{FF2B5EF4-FFF2-40B4-BE49-F238E27FC236}">
                <a16:creationId xmlns:a16="http://schemas.microsoft.com/office/drawing/2014/main" id="{D87F6614-26DB-4D39-9A8C-012304A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可用性</a:t>
            </a:r>
          </a:p>
        </p:txBody>
      </p:sp>
      <p:sp>
        <p:nvSpPr>
          <p:cNvPr id="8" name="next-body-0">
            <a:extLst xmlns:a="http://schemas.openxmlformats.org/drawingml/2006/main">
              <a:ext uri="{FF2B5EF4-FFF2-40B4-BE49-F238E27FC236}">
                <a16:creationId xmlns:a16="http://schemas.microsoft.com/office/drawing/2014/main" id="{893E16A3-0BD5-410C-9D89-179FB97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继续减少入口，把核心流程做短。</a:t>
            </a:r>
          </a:p>
        </p:txBody>
      </p:sp>
      <p:sp>
        <p:nvSpPr>
          <p:cNvPr id="9" name="next-1">
            <a:extLst xmlns:a="http://schemas.openxmlformats.org/drawingml/2006/main">
              <a:ext uri="{FF2B5EF4-FFF2-40B4-BE49-F238E27FC236}">
                <a16:creationId xmlns:a16="http://schemas.microsoft.com/office/drawing/2014/main" id="{AE687C3B-6502-4BA2-9E1F-489C1021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4191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0" name="next-title-1">
            <a:extLst xmlns:a="http://schemas.openxmlformats.org/drawingml/2006/main">
              <a:ext uri="{FF2B5EF4-FFF2-40B4-BE49-F238E27FC236}">
                <a16:creationId xmlns:a16="http://schemas.microsoft.com/office/drawing/2014/main" id="{5A5D5581-31F6-4E25-B608-E5E97678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580C"/>
                </a:solidFill>
              </a:defRPr>
            </a:pPr>
            <a:r>
              <a:rPr sz="1725" b="1">
                <a:solidFill>
                  <a:srgbClr val="EA580C"/>
                </a:solidFill>
              </a:rPr>
              <a:t>本地 AI</a:t>
            </a:r>
          </a:p>
        </p:txBody>
      </p:sp>
      <p:sp>
        <p:nvSpPr>
          <p:cNvPr id="11" name="next-body-1">
            <a:extLst xmlns:a="http://schemas.openxmlformats.org/drawingml/2006/main">
              <a:ext uri="{FF2B5EF4-FFF2-40B4-BE49-F238E27FC236}">
                <a16:creationId xmlns:a16="http://schemas.microsoft.com/office/drawing/2014/main" id="{F6D31812-57B0-4582-BEA9-6DAB99ED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先训练热词和短句，再尝试轻量模型。</a:t>
            </a:r>
          </a:p>
        </p:txBody>
      </p:sp>
      <p:sp>
        <p:nvSpPr>
          <p:cNvPr id="12" name="next-2">
            <a:extLst xmlns:a="http://schemas.openxmlformats.org/drawingml/2006/main">
              <a:ext uri="{FF2B5EF4-FFF2-40B4-BE49-F238E27FC236}">
                <a16:creationId xmlns:a16="http://schemas.microsoft.com/office/drawing/2014/main" id="{8B7E19D5-B558-4168-A4AF-35A98E4E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4191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3" name="next-title-2">
            <a:extLst xmlns:a="http://schemas.openxmlformats.org/drawingml/2006/main">
              <a:ext uri="{FF2B5EF4-FFF2-40B4-BE49-F238E27FC236}">
                <a16:creationId xmlns:a16="http://schemas.microsoft.com/office/drawing/2014/main" id="{36214CE3-05FF-4F00-B866-1C73FCF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05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下载中心</a:t>
            </a:r>
          </a:p>
        </p:txBody>
      </p:sp>
      <p:sp>
        <p:nvSpPr>
          <p:cNvPr id="14" name="next-body-2">
            <a:extLst xmlns:a="http://schemas.openxmlformats.org/drawingml/2006/main">
              <a:ext uri="{FF2B5EF4-FFF2-40B4-BE49-F238E27FC236}">
                <a16:creationId xmlns:a16="http://schemas.microsoft.com/office/drawing/2014/main" id="{E0031761-3361-4752-BE2A-F7A6B322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manifest、changelog、版本推送保持同步。</a:t>
            </a:r>
          </a:p>
        </p:txBody>
      </p:sp>
      <p:sp>
        <p:nvSpPr>
          <p:cNvPr id="15" name="next-3">
            <a:extLst xmlns:a="http://schemas.openxmlformats.org/drawingml/2006/main">
              <a:ext uri="{FF2B5EF4-FFF2-40B4-BE49-F238E27FC236}">
                <a16:creationId xmlns:a16="http://schemas.microsoft.com/office/drawing/2014/main" id="{2CF99D60-2F35-4164-B9AC-B9462C9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4191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A"/>
            </a:solidFill>
            <a:prstDash val="solid"/>
          </a:ln>
        </p:spPr>
      </p:sp>
      <p:sp>
        <p:nvSpPr>
          <p:cNvPr id="16" name="next-title-3">
            <a:extLst xmlns:a="http://schemas.openxmlformats.org/drawingml/2006/main">
              <a:ext uri="{FF2B5EF4-FFF2-40B4-BE49-F238E27FC236}">
                <a16:creationId xmlns:a16="http://schemas.microsoft.com/office/drawing/2014/main" id="{0113824B-1C2D-4301-9E7B-691326F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580C"/>
                </a:solidFill>
              </a:defRPr>
            </a:pPr>
            <a:r>
              <a:rPr sz="1725" b="1">
                <a:solidFill>
                  <a:srgbClr val="EA580C"/>
                </a:solidFill>
              </a:rPr>
              <a:t>社区</a:t>
            </a:r>
          </a:p>
        </p:txBody>
      </p:sp>
      <p:sp>
        <p:nvSpPr>
          <p:cNvPr id="17" name="next-body-3">
            <a:extLst xmlns:a="http://schemas.openxmlformats.org/drawingml/2006/main">
              <a:ext uri="{FF2B5EF4-FFF2-40B4-BE49-F238E27FC236}">
                <a16:creationId xmlns:a16="http://schemas.microsoft.com/office/drawing/2014/main" id="{CDF688F8-8C1B-42A2-A98D-AAF65DD2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开放场景话术、闯关题库和反馈通道。</a:t>
            </a:r>
          </a:p>
        </p:txBody>
      </p:sp>
      <p:sp>
        <p:nvSpPr>
          <p:cNvPr id="18" name="closing">
            <a:extLst xmlns:a="http://schemas.openxmlformats.org/drawingml/2006/main">
              <a:ext uri="{FF2B5EF4-FFF2-40B4-BE49-F238E27FC236}">
                <a16:creationId xmlns:a16="http://schemas.microsoft.com/office/drawing/2014/main" id="{436920B4-1E69-4F38-B952-B708A05D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2933"/>
                </a:solidFill>
              </a:defRPr>
            </a:pPr>
            <a:r>
              <a:rPr sz="1650" b="1">
                <a:solidFill>
                  <a:srgbClr val="1F2933"/>
                </a:solidFill>
              </a:rPr>
              <a:t>一句话介绍：声桥 HearBridge 是一款帮助听障人士在真实生活场景中用文字、大字卡片和闯关训练更顺畅沟通的多端辅助工具。</a:t>
            </a:r>
          </a:p>
        </p:txBody>
      </p:sp>
    </p:spTree>
    <p:extLst>
      <p:ext uri="{BB962C8B-B14F-4D97-AF65-F5344CB8AC3E}">
        <p14:creationId xmlns:p14="http://schemas.microsoft.com/office/powerpoint/2010/main" val="1681929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2026-07-11T02:21:23.6650000Z</dcterms:created>
  <dcterms:modified xsi:type="dcterms:W3CDTF">2026-07-11T02:21:23.6650000Z</dcterms:modified>
</coreProperties>
</file>